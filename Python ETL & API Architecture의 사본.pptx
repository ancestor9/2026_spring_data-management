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Urbanist"/>
      <p:regular r:id="rId18"/>
      <p:bold r:id="rId19"/>
      <p:italic r:id="rId20"/>
      <p:boldItalic r:id="rId21"/>
    </p:embeddedFont>
    <p:embeddedFont>
      <p:font typeface="JetBrains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22" Type="http://schemas.openxmlformats.org/officeDocument/2006/relationships/font" Target="fonts/JetBrainsMono-regular.fntdata"/><Relationship Id="rId21" Type="http://schemas.openxmlformats.org/officeDocument/2006/relationships/font" Target="fonts/Urbanist-boldItalic.fntdata"/><Relationship Id="rId24" Type="http://schemas.openxmlformats.org/officeDocument/2006/relationships/font" Target="fonts/JetBrainsMono-italic.fntdata"/><Relationship Id="rId23" Type="http://schemas.openxmlformats.org/officeDocument/2006/relationships/font" Target="fonts/JetBrains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JetBrains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rbanist-bold.fntdata"/><Relationship Id="rId18" Type="http://schemas.openxmlformats.org/officeDocument/2006/relationships/font" Target="fonts/Urbanis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11" Type="http://schemas.openxmlformats.org/officeDocument/2006/relationships/image" Target="../media/image9.png"/><Relationship Id="rId10" Type="http://schemas.openxmlformats.org/officeDocument/2006/relationships/image" Target="../media/image11.png"/><Relationship Id="rId12" Type="http://schemas.openxmlformats.org/officeDocument/2006/relationships/image" Target="../media/image26.png"/><Relationship Id="rId9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22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164258"/>
            <a:ext cx="496062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Python ETL &amp;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API Architecture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33800"/>
            <a:ext cx="47244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Pydantic을 활용한 데이터 파이프라인부터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모듈, 패키지, 라이브러리 계층 구조의 이해까지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"/>
            <a:ext cx="11049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4965858" y="1203275"/>
            <a:ext cx="22602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Presentation </a:t>
            </a: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Agenda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090987" y="2089100"/>
            <a:ext cx="4010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Python ETL 구현 (Pydantic)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4090987" y="2683371"/>
            <a:ext cx="4010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API의 본질적 의미와 REST API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090987" y="3277641"/>
            <a:ext cx="4010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Database API: ORM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090987" y="3871912"/>
            <a:ext cx="4010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JavaScript OOP와 API (새로 추가됨)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090987" y="4466183"/>
            <a:ext cx="4010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모듈 vs 패키지 vs 라이브러리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090987" y="5060453"/>
            <a:ext cx="4010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Case Study: Google Gemini API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0987" y="21462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0987" y="274052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0987" y="333479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0987" y="39290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0987" y="452333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0987" y="5117603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2225" y="1514475"/>
            <a:ext cx="52482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Robust ETL with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Pydantic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248438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Why Pydantic?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24000"/>
            <a:ext cx="5229225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914400" y="2962542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2960637"/>
            <a:ext cx="4848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데이터 유효성 검사 (Validation):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입력 데이터의 타입과 제약 조건을 엄격하게 검사합니다.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14400" y="3693884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500" y="3691979"/>
            <a:ext cx="4848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자동 타입 변환: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문자열로 들어온 날짜나 숫자를 적절한 Python 객체로 변환합니다.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14400" y="4425225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52500" y="4423320"/>
            <a:ext cx="4848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명확한 스키마 정의: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코드 자체가 문서 역할을 하여 유지보수성을 높입니다.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0" y="3052018"/>
            <a:ext cx="6286500" cy="168741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ETL Code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Structure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2293887"/>
            <a:ext cx="44005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Key Components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2846337"/>
            <a:ext cx="4191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RawCustomer: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Extract 단계의 입력 모델.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모든 필드를 문자열로 수용.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4171950"/>
            <a:ext cx="4191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ProcessedCustomer: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Transform 단계의 출력 모델.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엄격한 타입과 비즈니스 로직 적용.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562600" y="3242518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629400" y="3242518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0515600" y="3242518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562600" y="3429148"/>
            <a:ext cx="1295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ProcessedCustomer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839200" y="3429148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1049000" y="3429148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A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"ID"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096000" y="3615779"/>
            <a:ext cx="60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EmailStr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696200" y="3615779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bool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077200" y="3615779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382000" y="3615779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transform_data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562600" y="3802409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400800" y="3802409"/>
            <a:ext cx="15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391400" y="3802409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try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772400" y="3802409"/>
            <a:ext cx="2133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1. Validation &amp; Conversion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562600" y="3989040"/>
            <a:ext cx="1295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ProcessedCustomer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372600" y="398904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562600" y="4175670"/>
            <a:ext cx="60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continue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248400" y="417567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4475"/>
            <a:ext cx="52482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Understanding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API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524000"/>
            <a:ext cx="5229225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6391275" y="233198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Application Programming Interface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391275" y="2884437"/>
            <a:ext cx="5229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API는 소프트웨어 구성 요소 간의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약속(Contract)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이자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연결 통로(Interface)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입니다.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734175" y="3846284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772275" y="3844379"/>
            <a:ext cx="4848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추상화 (Abstraction):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복잡한 내부 로직을 몰라도 기능을 사용할 수 있게 합니다.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734175" y="4577625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772275" y="4575720"/>
            <a:ext cx="4848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광범위한 개념: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웹 통신뿐만 아니라, 라이브러리 함수 호출(예: scikit-learn)도 API입니다.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29829"/>
            <a:ext cx="3492400" cy="4331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729829"/>
            <a:ext cx="3492549" cy="4331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1729829"/>
            <a:ext cx="3492400" cy="4331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4825454"/>
            <a:ext cx="2901850" cy="940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4520654"/>
            <a:ext cx="2901999" cy="11275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225" y="4482554"/>
            <a:ext cx="2901850" cy="94089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571500" y="796379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Library API vs.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REST API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66775" y="2577554"/>
            <a:ext cx="304694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Library API (로컬 호출)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66775" y="3272879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로컬 환경에서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함수나 클래스를 직접 호출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하는 방식입니다. 라이브러리가 제공하는 함수 목록이 곧 API입니다.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644925" y="2577554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REST API (원격 호출)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4644925" y="3272879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 프로토콜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을 통해 원격 서버의 자원을 이용합니다. URI와 HTTP 메소드가 API 엔드포인트입니다.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423225" y="2577554"/>
            <a:ext cx="30469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Connection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423225" y="3234779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우리는 보통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Library API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(SDK)를 사용하여 복잡한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REST API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를 쉽게 호출하는 방식으로 결합합니다.</a:t>
            </a:r>
            <a:endParaRPr/>
          </a:p>
        </p:txBody>
      </p:sp>
      <p:pic>
        <p:nvPicPr>
          <p:cNvPr descr="image.png" id="181" name="Google Shape;18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2044154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1095375" y="5015954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2162175" y="5015954"/>
            <a:ext cx="15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323975" y="5202584"/>
            <a:ext cx="60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read_csv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2009775" y="5202584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A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'data.csv'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095375" y="5202584"/>
            <a:ext cx="19812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read_csv()가 API 호출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44925" y="204415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4873525" y="4711154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fetch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330725" y="4711154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A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'/users/123'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549925" y="4711154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method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4873525" y="4897784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A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'GET'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5330725" y="4897784"/>
            <a:ext cx="17907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HTTP 메소드가 API 동사</a:t>
            </a:r>
            <a:endParaRPr/>
          </a:p>
        </p:txBody>
      </p:sp>
      <p:pic>
        <p:nvPicPr>
          <p:cNvPr descr="image.png" id="193" name="Google Shape;193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23225" y="2044154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8651825" y="4673054"/>
            <a:ext cx="241935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파이썬 requests 라이브러리도 API임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0385375" y="4859684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3360539"/>
            <a:ext cx="5448300" cy="112752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571500" y="2539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Database API: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ORM</a:t>
            </a: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(객체 관계 매핑)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571500" y="1244500"/>
            <a:ext cx="52806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ORM의 역할과 API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571500" y="1835050"/>
            <a:ext cx="50292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ORM은 애플리케이션의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객체(Object)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와 관계형 데이터베이스의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테이블(Table)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을 연결해주는 프로그래밍 기법입니다.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400800" y="3551039"/>
            <a:ext cx="2838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[예시] SQLAlchemy를 사용한 데이터 조회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400800" y="3737669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session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467600" y="3737669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9448800" y="3737669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400800" y="3737669"/>
            <a:ext cx="493395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이 코드가 내부적으로 DB에 보내는 SQL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8153400" y="39243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8839200" y="392430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9677400" y="39243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WHERE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11049000" y="392430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A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914400" y="3162567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952500" y="3160662"/>
            <a:ext cx="46482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SQL 추상화: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개발자가 직접 SQL 쿼리를 작성하는 대신, 익숙한 프로그래밍 언어(Python)의 함수 호출을 사용합니다.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914400" y="4259580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952500" y="4257675"/>
            <a:ext cx="46482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데이터베이스 API 역할: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ORM 자체가 데이터베이스에 접근하고 조작하기 위한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라이브러리 API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역할을 수행합니다.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914400" y="5356592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952500" y="5354687"/>
            <a:ext cx="46482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다양한 DB 지원: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SQLite, PostgreSQL, MySQL 등 여러 데이터베이스를 동일한 ORM 인터페이스로 다룰 수 있습니다.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987278"/>
            <a:ext cx="5448300" cy="187404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571500" y="3810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JavaScript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OOP</a:t>
            </a: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: Class와 API의 관계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571500" y="1792932"/>
            <a:ext cx="52806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객체 API의 구성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571500" y="2383482"/>
            <a:ext cx="50292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객체 지향 프로그래밍에서 객체가 가지는 **`public` 메서드**와 **`public` 속성**들이 바로 객체의 API가 됩니다.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400800" y="3177778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858000" y="3177778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Calculator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7848600" y="3177778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내부 구현 (API 아님, 은닉)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9982200" y="3177778"/>
            <a:ext cx="60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#history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6400800" y="3364408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constructor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8839200" y="3364408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400800" y="3364408"/>
            <a:ext cx="49530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API Method (Public Interface)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8686800" y="3551039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add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9753600" y="3551039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6400800" y="3737669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6781800" y="3737669"/>
            <a:ext cx="60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#history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7848600" y="3737669"/>
            <a:ext cx="990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A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`+ ${number}`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9067800" y="3737669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9601200" y="3737669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400800" y="3737669"/>
            <a:ext cx="48768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API Method (Public Interface)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7848600" y="392430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getHistory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8991600" y="39243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9525000" y="392430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9906000" y="3924300"/>
            <a:ext cx="60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#history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400800" y="3924300"/>
            <a:ext cx="51054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API 호출: 'calc' 객체가 노출하는 public 메서드를 사용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9925050" y="411093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10915650" y="411093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400800" y="429756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Calculator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8001000" y="429756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add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9220200" y="429756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9906000" y="429756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getHistory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400800" y="4297560"/>
            <a:ext cx="48768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API 사용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914400" y="3710999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952500" y="3709094"/>
            <a:ext cx="46482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구현 은닉 (Encapsulation):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`#history`와 같은 내부 상태는 숨기고, `add()` 같은 공용 메서드만 외부에 노출합니다.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914400" y="4808011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952500" y="4806106"/>
            <a:ext cx="46482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명세 정의: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개발자는 `add(number)` 메서드가 숫자를 인수로 받고 결과를 갱신할 것이라는 API 명세를 신뢰하고 사용합니다.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43225"/>
            <a:ext cx="243066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2943225"/>
            <a:ext cx="243066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6860" y="2943225"/>
            <a:ext cx="243066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9541" y="2943225"/>
            <a:ext cx="243066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571500" y="1628775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Hierarchy: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From Code to API</a:t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1047750" y="3086100"/>
            <a:ext cx="100965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1643955" y="30384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610745" y="3514725"/>
            <a:ext cx="235216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Module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666750" y="4029075"/>
            <a:ext cx="2240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가장 작은 단위.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단일 파일(.py).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기능의 구현체.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4516635" y="30384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3483426" y="3514725"/>
            <a:ext cx="235216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Package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3539430" y="4029075"/>
            <a:ext cx="2240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모듈의 묶음.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디렉토리 구조.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네임스페이스 관리.</a:t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7389316" y="30384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6356106" y="3514725"/>
            <a:ext cx="235216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Library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412110" y="4029075"/>
            <a:ext cx="2240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패키지의 집합.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특정 목적의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거대한 도구 상자.</a:t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10261996" y="30384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9228787" y="3514725"/>
            <a:ext cx="235216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API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9284791" y="4029075"/>
            <a:ext cx="2240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라이브러리가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외부에 제공하는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공식 사용법.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2225" y="1514475"/>
            <a:ext cx="52482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2"/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Visualizing the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Structure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571500" y="2301478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Bookshelf Metaphor</a:t>
            </a:r>
            <a:endParaRPr/>
          </a:p>
        </p:txBody>
      </p:sp>
      <p:pic>
        <p:nvPicPr>
          <p:cNvPr descr="image.png" id="291" name="Google Shape;29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24000"/>
            <a:ext cx="5229225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2"/>
          <p:cNvSpPr txBox="1"/>
          <p:nvPr/>
        </p:nvSpPr>
        <p:spPr>
          <a:xfrm>
            <a:off x="914400" y="2779633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952500" y="2777728"/>
            <a:ext cx="4848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Library (도서관):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전체 시스템 (예: Python Standard Library).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914400" y="3510974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952500" y="3509069"/>
            <a:ext cx="4848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Package (책장 섹션):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관련된 주제의 묶음 (예: json, os).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914400" y="4242315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952500" y="4240410"/>
            <a:ext cx="48482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Module (책 한 권):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실제 내용이 담긴 파일.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914400" y="4607986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952500" y="4606081"/>
            <a:ext cx="4848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API (대출 데스크):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책(기능)을 빌리고 사용하는 규칙과 방법.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3"/>
          <p:cNvSpPr txBox="1"/>
          <p:nvPr/>
        </p:nvSpPr>
        <p:spPr>
          <a:xfrm>
            <a:off x="571500" y="882253"/>
            <a:ext cx="52006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Case Study: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Google Gemini API</a:t>
            </a:r>
            <a:endParaRPr/>
          </a:p>
        </p:txBody>
      </p:sp>
      <p:pic>
        <p:nvPicPr>
          <p:cNvPr descr="image.png" id="306" name="Google Shape;30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3"/>
          <p:cNvSpPr txBox="1"/>
          <p:nvPr/>
        </p:nvSpPr>
        <p:spPr>
          <a:xfrm>
            <a:off x="571500" y="2177653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 Hybrid Example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571500" y="2730103"/>
            <a:ext cx="4953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Gemini는 근본적으로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REST/gRPC API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(Web Service)입니다.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571500" y="3690044"/>
            <a:ext cx="4953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하지만 개발자는 주로 `google-generativeai`라는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Python Library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를 설치합니다.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714375" y="4649985"/>
            <a:ext cx="481012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즉,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라이브러리 API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(함수 호출)를 통해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내부적으로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웹 API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(HTTP 요청)를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수행하는 구조입니다.</a:t>
            </a: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571500" y="4649985"/>
            <a:ext cx="28575" cy="1097012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6" name="Google Shape;3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"/>
            <a:ext cx="11049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4"/>
          <p:cNvSpPr txBox="1"/>
          <p:nvPr/>
        </p:nvSpPr>
        <p:spPr>
          <a:xfrm>
            <a:off x="5015865" y="2579340"/>
            <a:ext cx="216027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4967287" y="3684240"/>
            <a:ext cx="2257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Thank you for listening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